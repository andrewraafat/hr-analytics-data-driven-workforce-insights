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anose="00000500000000000000" pitchFamily="2" charset="0"/>
      <p:regular r:id="rId10"/>
    </p:embeddedFont>
    <p:embeddedFont>
      <p:font typeface="Poppi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004232" y="2015966"/>
            <a:ext cx="6255068" cy="6255068"/>
          </a:xfrm>
          <a:custGeom>
            <a:avLst/>
            <a:gdLst/>
            <a:ahLst/>
            <a:cxnLst/>
            <a:rect l="l" t="t" r="r" b="b"/>
            <a:pathLst>
              <a:path w="6255068" h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5384437"/>
            <a:ext cx="6947174" cy="1438812"/>
            <a:chOff x="0" y="0"/>
            <a:chExt cx="1829708" cy="3789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9708" cy="378946"/>
            </a:xfrm>
            <a:custGeom>
              <a:avLst/>
              <a:gdLst/>
              <a:ahLst/>
              <a:cxnLst/>
              <a:rect l="l" t="t" r="r" b="b"/>
              <a:pathLst>
                <a:path w="1829708" h="378946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72748" y="8572728"/>
            <a:ext cx="19408687" cy="996493"/>
            <a:chOff x="0" y="0"/>
            <a:chExt cx="5111753" cy="262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3178002"/>
            <a:ext cx="11021062" cy="169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999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HR Analytics</a:t>
            </a:r>
            <a:endParaRPr lang="en-US" sz="999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9431" y="5733955"/>
            <a:ext cx="608571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16975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 : Andrew Raafat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947894" y="2239922"/>
            <a:ext cx="4595356" cy="5531526"/>
          </a:xfrm>
          <a:custGeom>
            <a:avLst/>
            <a:gdLst/>
            <a:ahLst/>
            <a:cxnLst/>
            <a:rect l="l" t="t" r="r" b="b"/>
            <a:pathLst>
              <a:path w="4595356" h="5531526">
                <a:moveTo>
                  <a:pt x="0" y="0"/>
                </a:moveTo>
                <a:lnTo>
                  <a:pt x="4595355" y="0"/>
                </a:lnTo>
                <a:lnTo>
                  <a:pt x="4595355" y="5531525"/>
                </a:lnTo>
                <a:lnTo>
                  <a:pt x="0" y="55315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052634" y="1844409"/>
            <a:ext cx="7635630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</a:t>
            </a: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3067155"/>
            <a:ext cx="8115300" cy="298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Unlocking Workforce Insights: A Data-Driven HR Strategy for 999 Employees.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goal is to extract insights, build predictive models, and support decision-making.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616914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94359" y="2446901"/>
            <a:ext cx="6154064" cy="5393198"/>
          </a:xfrm>
          <a:custGeom>
            <a:avLst/>
            <a:gdLst/>
            <a:ahLst/>
            <a:cxnLst/>
            <a:rect l="l" t="t" r="r" b="b"/>
            <a:pathLst>
              <a:path w="6154064" h="5393198">
                <a:moveTo>
                  <a:pt x="0" y="0"/>
                </a:moveTo>
                <a:lnTo>
                  <a:pt x="6154064" y="0"/>
                </a:lnTo>
                <a:lnTo>
                  <a:pt x="6154064" y="5393198"/>
                </a:lnTo>
                <a:lnTo>
                  <a:pt x="0" y="5393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86314" y="298716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49893" y="1095375"/>
            <a:ext cx="11389458" cy="738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94"/>
              </a:lnSpc>
            </a:pPr>
            <a:r>
              <a:rPr lang="en-US" sz="53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Preprocessing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9927" y="2747962"/>
            <a:ext cx="10644432" cy="576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Refining the Focus: Removed non-impactful identifiers like Names and IDs to ensure a bias-free analysis.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Feature Engineering: Calculated "Age" and "Tenure" (Years of Experience) from date columns to identify the true drivers of salary. 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Standardization: Cleaned text entries and encoded categorical variables to prepare the dataset for high-accuracy modeling.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041610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7" y="0"/>
                </a:lnTo>
                <a:lnTo>
                  <a:pt x="642387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983829" y="1212717"/>
            <a:ext cx="8320343" cy="273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</a:t>
            </a:r>
            <a:r>
              <a:rPr lang="en-US" sz="6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orkforce Overview (Dashboard 1)</a:t>
            </a:r>
          </a:p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Scaling Operations and Budget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23668" y="4274083"/>
            <a:ext cx="5491579" cy="2536733"/>
            <a:chOff x="0" y="0"/>
            <a:chExt cx="1446342" cy="668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46489" y="4274083"/>
            <a:ext cx="5491579" cy="2536733"/>
            <a:chOff x="0" y="0"/>
            <a:chExt cx="1446342" cy="6681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69311" y="4274083"/>
            <a:ext cx="5491579" cy="2536733"/>
            <a:chOff x="0" y="0"/>
            <a:chExt cx="1446342" cy="668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23784" y="4412150"/>
            <a:ext cx="5091347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Workforce: Managing a diverse team of 999 employees across 5 key branches (Sharqia, Cairo, Giza, Ismailia, and Alexandria).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97100" y="4631225"/>
            <a:ext cx="4990357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Footprint: Overseeing a total salary budget of 9M, with an average salary of 9.31K per employee.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19922" y="4412150"/>
            <a:ext cx="4990357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Departmental Focus: Identified Compliance as the largest department by both headcount and salary expenditure.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8302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56019" y="1212717"/>
            <a:ext cx="10775961" cy="273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Dem</a:t>
            </a:r>
            <a:r>
              <a:rPr lang="en-US" sz="6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ographics &amp; Experience (Dashboard 2)</a:t>
            </a:r>
          </a:p>
          <a:p>
            <a:pPr marL="0" lvl="1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Stability Through Experience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3668" y="4274083"/>
            <a:ext cx="5491579" cy="2536733"/>
            <a:chOff x="0" y="0"/>
            <a:chExt cx="1446342" cy="6681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46489" y="4274083"/>
            <a:ext cx="5491579" cy="2536733"/>
            <a:chOff x="0" y="0"/>
            <a:chExt cx="1446342" cy="6681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69311" y="4274083"/>
            <a:ext cx="5491579" cy="2536733"/>
            <a:chOff x="0" y="0"/>
            <a:chExt cx="1446342" cy="6681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6342" cy="668111"/>
            </a:xfrm>
            <a:custGeom>
              <a:avLst/>
              <a:gdLst/>
              <a:ahLst/>
              <a:cxnLst/>
              <a:rect l="l" t="t" r="r" b="b"/>
              <a:pathLst>
                <a:path w="1446342" h="668111">
                  <a:moveTo>
                    <a:pt x="71899" y="0"/>
                  </a:moveTo>
                  <a:lnTo>
                    <a:pt x="1374443" y="0"/>
                  </a:lnTo>
                  <a:cubicBezTo>
                    <a:pt x="1393512" y="0"/>
                    <a:pt x="1411800" y="7575"/>
                    <a:pt x="1425283" y="21059"/>
                  </a:cubicBezTo>
                  <a:cubicBezTo>
                    <a:pt x="1438767" y="34542"/>
                    <a:pt x="1446342" y="52830"/>
                    <a:pt x="1446342" y="71899"/>
                  </a:cubicBezTo>
                  <a:lnTo>
                    <a:pt x="1446342" y="596212"/>
                  </a:lnTo>
                  <a:cubicBezTo>
                    <a:pt x="1446342" y="615281"/>
                    <a:pt x="1438767" y="633568"/>
                    <a:pt x="1425283" y="647052"/>
                  </a:cubicBezTo>
                  <a:cubicBezTo>
                    <a:pt x="1411800" y="660536"/>
                    <a:pt x="1393512" y="668111"/>
                    <a:pt x="1374443" y="668111"/>
                  </a:cubicBezTo>
                  <a:lnTo>
                    <a:pt x="71899" y="668111"/>
                  </a:lnTo>
                  <a:cubicBezTo>
                    <a:pt x="52830" y="668111"/>
                    <a:pt x="34542" y="660536"/>
                    <a:pt x="21059" y="647052"/>
                  </a:cubicBezTo>
                  <a:cubicBezTo>
                    <a:pt x="7575" y="633568"/>
                    <a:pt x="0" y="615281"/>
                    <a:pt x="0" y="596212"/>
                  </a:cubicBezTo>
                  <a:lnTo>
                    <a:pt x="0" y="71899"/>
                  </a:lnTo>
                  <a:cubicBezTo>
                    <a:pt x="0" y="52830"/>
                    <a:pt x="7575" y="34542"/>
                    <a:pt x="21059" y="21059"/>
                  </a:cubicBezTo>
                  <a:cubicBezTo>
                    <a:pt x="34542" y="7575"/>
                    <a:pt x="52830" y="0"/>
                    <a:pt x="71899" y="0"/>
                  </a:cubicBezTo>
                  <a:close/>
                </a:path>
              </a:pathLst>
            </a:custGeom>
            <a:ln w="6667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446342" cy="73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23784" y="4631225"/>
            <a:ext cx="5091347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Organizational Maturity: The company boasts a high level of loyalty, with an average tenure of 19.60 years.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71795" y="4412150"/>
            <a:ext cx="5240968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 Distribution: Our workforce peaks between the ages of 30 and 40, representing a stable and experienced professional core.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19922" y="4631225"/>
            <a:ext cx="4990357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Hierarchy Insight: The structure consists of 671 Employees, 159 Supervisors, and 169 Managers.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8302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64796" y="2432718"/>
            <a:ext cx="5194504" cy="5194504"/>
          </a:xfrm>
          <a:custGeom>
            <a:avLst/>
            <a:gdLst/>
            <a:ahLst/>
            <a:cxnLst/>
            <a:rect l="l" t="t" r="r" b="b"/>
            <a:pathLst>
              <a:path w="5194504" h="5194504">
                <a:moveTo>
                  <a:pt x="0" y="0"/>
                </a:moveTo>
                <a:lnTo>
                  <a:pt x="5194504" y="0"/>
                </a:lnTo>
                <a:lnTo>
                  <a:pt x="5194504" y="5194505"/>
                </a:lnTo>
                <a:lnTo>
                  <a:pt x="0" y="5194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98716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115439"/>
            <a:ext cx="8336527" cy="1173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8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</a:t>
            </a:r>
            <a:r>
              <a:rPr lang="en-US" sz="6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tive Modeling : 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90% Accuracy in Salary Forecasting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54588"/>
            <a:ext cx="10593041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Solution: Implemented a Random Forest Regressor to decode the complex relationship between age, experience, and compensation. 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Performance: Achieved a high R² Score of 0.90, allowing the HR department to predict fair market salaries with 90% confidence. 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Strategic Value: This model serves as a benchmark for new hires and budget planning to ensure internal pay equity.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31612" y="2529656"/>
            <a:ext cx="5227688" cy="5227688"/>
          </a:xfrm>
          <a:custGeom>
            <a:avLst/>
            <a:gdLst/>
            <a:ahLst/>
            <a:cxnLst/>
            <a:rect l="l" t="t" r="r" b="b"/>
            <a:pathLst>
              <a:path w="5227688" h="5227688">
                <a:moveTo>
                  <a:pt x="0" y="0"/>
                </a:moveTo>
                <a:lnTo>
                  <a:pt x="5227688" y="0"/>
                </a:lnTo>
                <a:lnTo>
                  <a:pt x="5227688" y="5227688"/>
                </a:lnTo>
                <a:lnTo>
                  <a:pt x="0" y="5227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98716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1095375"/>
            <a:ext cx="13356601" cy="117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79"/>
              </a:lnSpc>
            </a:pPr>
            <a:r>
              <a:rPr lang="en-US" sz="5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</a:t>
            </a:r>
            <a:r>
              <a:rPr lang="en-US" sz="5999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lusion &amp; Recommendations :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Sustaining Growth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504249"/>
            <a:ext cx="10637287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Equity First: Use the 90% accurate prediction model to standardize salary offers and reduce turnover. 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Generational Balance: While our tenure is strong (19.6 years), we recommend targeted recruitment of younger talent to ensure a continuous transfer of knowledge. 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just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Efficiency: Focus on departments like Logistics, which show high efficiency with lower comparative salary costs. 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004232" y="2015966"/>
            <a:ext cx="6255068" cy="6255068"/>
          </a:xfrm>
          <a:custGeom>
            <a:avLst/>
            <a:gdLst/>
            <a:ahLst/>
            <a:cxnLst/>
            <a:rect l="l" t="t" r="r" b="b"/>
            <a:pathLst>
              <a:path w="6255068" h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560343" y="8572728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572000" y="3848100"/>
            <a:ext cx="8374162" cy="1705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816975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 : Andrew Raafat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395</Words>
  <Application>Microsoft Office PowerPoint</Application>
  <PresentationFormat>Custom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Poppins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cp:lastModifiedBy>Andrew Raafat Nagib Gad</cp:lastModifiedBy>
  <cp:revision>3</cp:revision>
  <dcterms:created xsi:type="dcterms:W3CDTF">2006-08-16T00:00:00Z</dcterms:created>
  <dcterms:modified xsi:type="dcterms:W3CDTF">2026-04-16T14:34:27Z</dcterms:modified>
  <dc:identifier>DAHGXhCL0Wo</dc:identifier>
</cp:coreProperties>
</file>